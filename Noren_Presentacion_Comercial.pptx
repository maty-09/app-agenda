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a0a017df8a742a3" /><Relationship Type="http://schemas.openxmlformats.org/officeDocument/2006/relationships/extended-properties" Target="/docProps/app.xml" Id="R06e8808894d54143" /><Relationship Type="http://schemas.openxmlformats.org/officeDocument/2006/relationships/officeDocument" Target="/ppt/presentation.xml" Id="Rea7cacd81a4a4bf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3387083eae541c8"/>
  </p:sldMasterIdLst>
  <p:notesMasterIdLst>
    <p:notesMasterId xmlns:r="http://schemas.openxmlformats.org/officeDocument/2006/relationships" r:id="R051def23d7504b08"/>
  </p:notesMasterIdLst>
  <p:sldIdLst>
    <p:sldId xmlns:r="http://schemas.openxmlformats.org/officeDocument/2006/relationships" id="256" r:id="R8772a99de6654558"/>
    <p:sldId xmlns:r="http://schemas.openxmlformats.org/officeDocument/2006/relationships" id="257" r:id="R75c4b3f0c39b421c"/>
    <p:sldId xmlns:r="http://schemas.openxmlformats.org/officeDocument/2006/relationships" id="258" r:id="Rde54e575852c49f5"/>
    <p:sldId xmlns:r="http://schemas.openxmlformats.org/officeDocument/2006/relationships" id="259" r:id="R251454b103c4447b"/>
    <p:sldId xmlns:r="http://schemas.openxmlformats.org/officeDocument/2006/relationships" id="260" r:id="Rb4576baf17fa43a7"/>
    <p:sldId xmlns:r="http://schemas.openxmlformats.org/officeDocument/2006/relationships" id="261" r:id="R171fc0c3a1de4bed"/>
    <p:sldId xmlns:r="http://schemas.openxmlformats.org/officeDocument/2006/relationships" id="262" r:id="Rbd999f801a0c45bb"/>
    <p:sldId xmlns:r="http://schemas.openxmlformats.org/officeDocument/2006/relationships" id="263" r:id="Rd0dad141a26b43ce"/>
    <p:sldId xmlns:r="http://schemas.openxmlformats.org/officeDocument/2006/relationships" id="264" r:id="R4f9c7d352d0c4a9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25a8c95e5e14da2" /><Relationship Type="http://schemas.openxmlformats.org/officeDocument/2006/relationships/slideMaster" Target="/ppt/slideMasters/slideMaster1.xml" Id="R23387083eae541c8" /><Relationship Type="http://schemas.openxmlformats.org/officeDocument/2006/relationships/notesMaster" Target="/ppt/notesMasters/notesMaster1.xml" Id="R051def23d7504b08" /><Relationship Type="http://schemas.openxmlformats.org/officeDocument/2006/relationships/presProps" Target="/ppt/presProps.xml" Id="Re27c7a6bfbf8400a" /><Relationship Type="http://schemas.openxmlformats.org/officeDocument/2006/relationships/tableStyles" Target="/ppt/tableStyles.xml" Id="Re8b098fb79a44d32" /><Relationship Type="http://schemas.openxmlformats.org/officeDocument/2006/relationships/slide" Target="/ppt/slides/slide1.xml" Id="R8772a99de6654558" /><Relationship Type="http://schemas.openxmlformats.org/officeDocument/2006/relationships/slide" Target="/ppt/slides/slide2.xml" Id="R75c4b3f0c39b421c" /><Relationship Type="http://schemas.openxmlformats.org/officeDocument/2006/relationships/slide" Target="/ppt/slides/slide3.xml" Id="Rde54e575852c49f5" /><Relationship Type="http://schemas.openxmlformats.org/officeDocument/2006/relationships/slide" Target="/ppt/slides/slide4.xml" Id="R251454b103c4447b" /><Relationship Type="http://schemas.openxmlformats.org/officeDocument/2006/relationships/slide" Target="/ppt/slides/slide5.xml" Id="Rb4576baf17fa43a7" /><Relationship Type="http://schemas.openxmlformats.org/officeDocument/2006/relationships/slide" Target="/ppt/slides/slide6.xml" Id="R171fc0c3a1de4bed" /><Relationship Type="http://schemas.openxmlformats.org/officeDocument/2006/relationships/slide" Target="/ppt/slides/slide7.xml" Id="Rbd999f801a0c45bb" /><Relationship Type="http://schemas.openxmlformats.org/officeDocument/2006/relationships/slide" Target="/ppt/slides/slide8.xml" Id="Rd0dad141a26b43ce" /><Relationship Type="http://schemas.openxmlformats.org/officeDocument/2006/relationships/slide" Target="/ppt/slides/slide9.xml" Id="R4f9c7d352d0c4a9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e121d05ac3440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ed809b8e50f47fa" /><Relationship Type="http://schemas.openxmlformats.org/officeDocument/2006/relationships/notesMaster" Target="/ppt/notesMasters/notesMaster1.xml" Id="R7cc3dba59a1c49e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b5c34e498c44c87" /><Relationship Type="http://schemas.openxmlformats.org/officeDocument/2006/relationships/notesMaster" Target="/ppt/notesMasters/notesMaster1.xml" Id="R4450d68009274c8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38c9064f26b4b1a" /><Relationship Type="http://schemas.openxmlformats.org/officeDocument/2006/relationships/notesMaster" Target="/ppt/notesMasters/notesMaster1.xml" Id="Rf08ef3ab3cf748f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95a0d93f8e5494f" /><Relationship Type="http://schemas.openxmlformats.org/officeDocument/2006/relationships/notesMaster" Target="/ppt/notesMasters/notesMaster1.xml" Id="Rb3fd107fa89846d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6b64776bdfa47c8" /><Relationship Type="http://schemas.openxmlformats.org/officeDocument/2006/relationships/notesMaster" Target="/ppt/notesMasters/notesMaster1.xml" Id="R73e90e1885d4427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a260ae9da3d4c78" /><Relationship Type="http://schemas.openxmlformats.org/officeDocument/2006/relationships/notesMaster" Target="/ppt/notesMasters/notesMaster1.xml" Id="R029d66cb5290425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8ff5f4804224829" /><Relationship Type="http://schemas.openxmlformats.org/officeDocument/2006/relationships/notesMaster" Target="/ppt/notesMasters/notesMaster1.xml" Id="R462fb8428bba46f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62a6a03ed5f405b" /><Relationship Type="http://schemas.openxmlformats.org/officeDocument/2006/relationships/notesMaster" Target="/ppt/notesMasters/notesMaster1.xml" Id="R6843e8bd859a4a3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6a74d21d620496a" /><Relationship Type="http://schemas.openxmlformats.org/officeDocument/2006/relationships/notesMaster" Target="/ppt/notesMasters/notesMaster1.xml" Id="R6e2f845e3c7a440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4586516e3b424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3c8d44b04614c5a" /><Relationship Type="http://schemas.openxmlformats.org/officeDocument/2006/relationships/slideLayout" Target="/ppt/slideLayouts/slideLayout1.xml" Id="R598a140592f342e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8a140592f342e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59c28633434f91" /><Relationship Type="http://schemas.openxmlformats.org/officeDocument/2006/relationships/notesSlide" Target="/ppt/notesSlides/notesSlide1.xml" Id="Rd2e494ed017647c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fab7ff129d4525" /><Relationship Type="http://schemas.openxmlformats.org/officeDocument/2006/relationships/notesSlide" Target="/ppt/notesSlides/notesSlide2.xml" Id="Rfb626f08adf6420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5e58f9d7e44cdf" /><Relationship Type="http://schemas.openxmlformats.org/officeDocument/2006/relationships/notesSlide" Target="/ppt/notesSlides/notesSlide3.xml" Id="R15f5f030a35a4b2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71cf00d13d43f2" /><Relationship Type="http://schemas.openxmlformats.org/officeDocument/2006/relationships/notesSlide" Target="/ppt/notesSlides/notesSlide4.xml" Id="Re31fe89deff6428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85a0e7864f4904" /><Relationship Type="http://schemas.openxmlformats.org/officeDocument/2006/relationships/notesSlide" Target="/ppt/notesSlides/notesSlide5.xml" Id="R57a4e27488584ee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e2b40aab814c89" /><Relationship Type="http://schemas.openxmlformats.org/officeDocument/2006/relationships/notesSlide" Target="/ppt/notesSlides/notesSlide6.xml" Id="R9059ac371c4c41a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1ae73f01564043" /><Relationship Type="http://schemas.openxmlformats.org/officeDocument/2006/relationships/notesSlide" Target="/ppt/notesSlides/notesSlide7.xml" Id="R6cc687da9f6f4f7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64556902734506" /><Relationship Type="http://schemas.openxmlformats.org/officeDocument/2006/relationships/notesSlide" Target="/ppt/notesSlides/notesSlide8.xml" Id="R52e43e70942149f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a14ec856f84061" /><Relationship Type="http://schemas.openxmlformats.org/officeDocument/2006/relationships/notesSlide" Target="/ppt/notesSlides/notesSlide9.xml" Id="R2daa77da4f4e47e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B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BBD4F5-11B3-4D69-84C3-E481BAB98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952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5E7"/>
          </a:solidFill>
          <a:ln xmlns:a="http://schemas.openxmlformats.org/drawingml/2006/main" w="0">
            <a:solidFill>
              <a:srgbClr val="C9F5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E77738-FDFD-4DED-A648-E31BBD2F9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9F5E7"/>
                </a:solidFill>
              </a:defRPr>
            </a:pPr>
            <a:r>
              <a:rPr sz="1800" b="1">
                <a:solidFill>
                  <a:srgbClr val="C9F5E7"/>
                </a:solidFill>
              </a:rPr>
              <a:t>NOREN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4AA3AC-EFAE-406A-8ABD-9D2001A0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6572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</a:defRPr>
            </a:pPr>
            <a:r>
              <a:rPr sz="4800" b="1">
                <a:solidFill>
                  <a:srgbClr val="FFFFFF"/>
                </a:solidFill>
              </a:rPr>
              <a:t>Cada cita</a:t>
            </a:r>
          </a:p>
          <a:p xmlns:a="http://schemas.openxmlformats.org/drawingml/2006/main">
            <a:pPr algn="l">
              <a:defRPr sz="4800" b="1">
                <a:solidFill>
                  <a:srgbClr val="FFFFFF"/>
                </a:solidFill>
              </a:defRPr>
            </a:pPr>
            <a:r>
              <a:rPr sz="4800" b="1">
                <a:solidFill>
                  <a:srgbClr val="FFFFFF"/>
                </a:solidFill>
              </a:rPr>
              <a:t>se convierte en una</a:t>
            </a:r>
          </a:p>
          <a:p xmlns:a="http://schemas.openxmlformats.org/drawingml/2006/main">
            <a:pPr algn="l">
              <a:defRPr sz="4800" b="1">
                <a:solidFill>
                  <a:srgbClr val="FFFFFF"/>
                </a:solidFill>
              </a:defRPr>
            </a:pPr>
            <a:r>
              <a:rPr sz="4800" b="1">
                <a:solidFill>
                  <a:srgbClr val="FFFFFF"/>
                </a:solidFill>
              </a:rPr>
              <a:t>mejor relación.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22075E-6D16-449C-A0EB-083DEB060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24375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CE3F4"/>
                </a:solidFill>
              </a:defRPr>
            </a:pPr>
            <a:r>
              <a:rPr sz="1875" b="0">
                <a:solidFill>
                  <a:srgbClr val="DCE3F4"/>
                </a:solidFill>
              </a:rPr>
              <a:t>Agenda, clientes y operación en un solo lugar.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929987-350C-457B-AF4A-AACC5071E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817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9F5E7"/>
                </a:solidFill>
              </a:defRPr>
            </a:pPr>
            <a:r>
              <a:rPr sz="1275" b="1">
                <a:solidFill>
                  <a:srgbClr val="C9F5E7"/>
                </a:solidFill>
              </a:rPr>
              <a:t>Presentación comercial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330B65-FC11-486F-8565-318A2D02B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162050"/>
            <a:ext cx="2714625" cy="35242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5638E8"/>
          </a:solidFill>
          <a:ln xmlns:a="http://schemas.openxmlformats.org/drawingml/2006/main" w="0">
            <a:solidFill>
              <a:srgbClr val="5638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E64C63-BAB2-4476-AFB7-7CC35B41D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714500"/>
            <a:ext cx="190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C9F5E7"/>
                </a:solidFill>
              </a:defRPr>
            </a:pPr>
            <a:r>
              <a:rPr sz="5250" b="1">
                <a:solidFill>
                  <a:srgbClr val="C9F5E7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C2B87A-1BD4-45DC-9BC3-F3CD044D4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57500"/>
            <a:ext cx="19526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Orden para</a:t>
            </a:r>
          </a:p>
          <a:p xmlns:a="http://schemas.openxmlformats.org/drawingml/2006/main">
            <a:pPr algn="l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crecer sin</a:t>
            </a:r>
          </a:p>
          <a:p xmlns:a="http://schemas.openxmlformats.org/drawingml/2006/main">
            <a:pPr algn="l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fricción.</a:t>
            </a:r>
          </a:p>
        </p:txBody>
      </p:sp>
    </p:spTree>
    <p:extLst>
      <p:ext uri="{BB962C8B-B14F-4D97-AF65-F5344CB8AC3E}">
        <p14:creationId xmlns:p14="http://schemas.microsoft.com/office/powerpoint/2010/main" val="55971239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114CB6-65FD-49D6-9109-82697E289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638E8"/>
                </a:solidFill>
              </a:defRPr>
            </a:pPr>
            <a:r>
              <a:rPr sz="1350" b="1">
                <a:solidFill>
                  <a:srgbClr val="5638E8"/>
                </a:solidFill>
              </a:rPr>
              <a:t>NOREN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E3BCAE-FD9B-4FAF-B26D-239E10D63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000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3708A"/>
                </a:solidFill>
              </a:defRPr>
            </a:pPr>
            <a:r>
              <a:rPr sz="1350" b="1">
                <a:solidFill>
                  <a:srgbClr val="63708A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FBFD36-BF51-4909-B77E-93291E6F8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5213B"/>
                </a:solidFill>
              </a:defRPr>
            </a:pPr>
            <a:r>
              <a:rPr sz="3150" b="1">
                <a:solidFill>
                  <a:srgbClr val="15213B"/>
                </a:solidFill>
              </a:rPr>
              <a:t>La operación se rompe entre mensajes, planillas y memoria.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A07040-63A6-496B-9969-DE4433360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3708A"/>
                </a:solidFill>
              </a:defRPr>
            </a:pPr>
            <a:r>
              <a:rPr sz="1500" b="0">
                <a:solidFill>
                  <a:srgbClr val="63708A"/>
                </a:solidFill>
              </a:rPr>
              <a:t>Cuando el equipo no ve el mismo contexto, se pierden oportunidades y tiempo.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EEEDC0-D616-4A2E-AD65-F2032E5A8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32385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0">
            <a:solidFill>
              <a:srgbClr val="F4F6F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5F5EC0-3604-423E-B687-A4441ABCA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71750"/>
            <a:ext cx="32385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0">
            <a:solidFill>
              <a:srgbClr val="F4F6F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C016FA-9B15-4FC9-9F8B-D1AE0CB5B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71750"/>
            <a:ext cx="32385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0">
            <a:solidFill>
              <a:srgbClr val="F4F6F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39E1DA-3399-4423-8F19-791814A4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146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5213B"/>
                </a:solidFill>
              </a:defRPr>
            </a:pPr>
            <a:r>
              <a:rPr sz="1875" b="1">
                <a:solidFill>
                  <a:srgbClr val="15213B"/>
                </a:solidFill>
              </a:rPr>
              <a:t>Citas dispersas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264D87-6BED-4C25-B688-F7B71A806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48050"/>
            <a:ext cx="2619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3708A"/>
                </a:solidFill>
              </a:defRPr>
            </a:pPr>
            <a:r>
              <a:rPr sz="1500" b="0">
                <a:solidFill>
                  <a:srgbClr val="63708A"/>
                </a:solidFill>
              </a:rPr>
              <a:t>Cambios de última hora, dobles reservas y poca visibilidad.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E15644-E1D3-456D-BBE4-6ECE331D5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9146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5213B"/>
                </a:solidFill>
              </a:defRPr>
            </a:pPr>
            <a:r>
              <a:rPr sz="1875" b="1">
                <a:solidFill>
                  <a:srgbClr val="15213B"/>
                </a:solidFill>
              </a:rPr>
              <a:t>Clientes sin contexto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39BC19-9F52-4C9B-9089-72F862D21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448050"/>
            <a:ext cx="2571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3708A"/>
                </a:solidFill>
              </a:defRPr>
            </a:pPr>
            <a:r>
              <a:rPr sz="1500" b="0">
                <a:solidFill>
                  <a:srgbClr val="63708A"/>
                </a:solidFill>
              </a:rPr>
              <a:t>La información queda repartida y la atención pierde continuidad.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465E96-51C5-4B19-9A86-C6E32974C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146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5213B"/>
                </a:solidFill>
              </a:defRPr>
            </a:pPr>
            <a:r>
              <a:rPr sz="1875" b="1">
                <a:solidFill>
                  <a:srgbClr val="15213B"/>
                </a:solidFill>
              </a:rPr>
              <a:t>Seguimiento tardío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D5CE45-3947-4174-999A-EA39D3BCC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448050"/>
            <a:ext cx="2619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3708A"/>
                </a:solidFill>
              </a:defRPr>
            </a:pPr>
            <a:r>
              <a:rPr sz="1500" b="0">
                <a:solidFill>
                  <a:srgbClr val="63708A"/>
                </a:solidFill>
              </a:rPr>
              <a:t>Tareas y próximos pasos que llegan tarde o no llegan.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644740-3FF2-4836-A4A9-2725344CD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08A"/>
                </a:solidFill>
              </a:defRPr>
            </a:pPr>
            <a:r>
              <a:rPr sz="1050" b="0">
                <a:solidFill>
                  <a:srgbClr val="63708A"/>
                </a:solidFill>
              </a:rPr>
              <a:t>Agenda inteligente para equipos que venden y atienden</a:t>
            </a:r>
          </a:p>
        </p:txBody>
      </p:sp>
    </p:spTree>
    <p:extLst>
      <p:ext uri="{BB962C8B-B14F-4D97-AF65-F5344CB8AC3E}">
        <p14:creationId xmlns:p14="http://schemas.microsoft.com/office/powerpoint/2010/main" val="73047738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ACF83B-0FA1-44F6-8013-44911BE23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638E8"/>
                </a:solidFill>
              </a:defRPr>
            </a:pPr>
            <a:r>
              <a:rPr sz="1350" b="1">
                <a:solidFill>
                  <a:srgbClr val="5638E8"/>
                </a:solidFill>
              </a:rPr>
              <a:t>NOREN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48916C-9978-4C13-81D5-303324519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000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3708A"/>
                </a:solidFill>
              </a:defRPr>
            </a:pPr>
            <a:r>
              <a:rPr sz="1350" b="1">
                <a:solidFill>
                  <a:srgbClr val="63708A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A57232-2BF4-42E3-A29B-D61FA8449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5213B"/>
                </a:solidFill>
              </a:defRPr>
            </a:pPr>
            <a:r>
              <a:rPr sz="3150" b="1">
                <a:solidFill>
                  <a:srgbClr val="15213B"/>
                </a:solidFill>
              </a:rPr>
              <a:t>Noren conecta agenda, clientes y trabajo diario.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2D641B-5F8A-4CB3-9166-660F4728A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3708A"/>
                </a:solidFill>
              </a:defRPr>
            </a:pPr>
            <a:r>
              <a:rPr sz="1500" b="0">
                <a:solidFill>
                  <a:srgbClr val="63708A"/>
                </a:solidFill>
              </a:rPr>
              <a:t>Una experiencia simple para el cliente; una operación clara para el equipo.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FBE8BB-92DD-450B-8513-1A12C32D0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095375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EEF0FF"/>
          </a:solidFill>
          <a:ln xmlns:a="http://schemas.openxmlformats.org/drawingml/2006/main" w="0">
            <a:solidFill>
              <a:srgbClr val="EEF0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C74DCA-7025-4045-8053-D8B177EF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575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5638E8"/>
                </a:solidFill>
              </a:defRPr>
            </a:pPr>
            <a:r>
              <a:rPr sz="1875" b="1">
                <a:solidFill>
                  <a:srgbClr val="5638E8"/>
                </a:solidFill>
              </a:rPr>
              <a:t>Cliente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2B46FF-C622-4949-B2B9-C798BBA40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3380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3708A"/>
                </a:solidFill>
              </a:defRPr>
            </a:pPr>
            <a:r>
              <a:rPr sz="1350" b="1">
                <a:solidFill>
                  <a:srgbClr val="63708A"/>
                </a:solidFill>
              </a:rPr>
              <a:t>Reserva cuando le acomoda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27E27B-89C1-4A66-8EDC-59A7345E1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476625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5638E8"/>
                </a:solidFill>
              </a:defRPr>
            </a:pPr>
            <a:r>
              <a:rPr sz="2550" b="1">
                <a:solidFill>
                  <a:srgbClr val="5638E8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79879C-D7DB-4758-9ED3-A9A957ACA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575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B3D"/>
                </a:solidFill>
              </a:defRPr>
            </a:pPr>
            <a:r>
              <a:rPr sz="2100" b="1">
                <a:solidFill>
                  <a:srgbClr val="111B3D"/>
                </a:solidFill>
              </a:rPr>
              <a:t>Noren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21D0C9-DAEB-41FD-B998-89DD971A0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73380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3708A"/>
                </a:solidFill>
              </a:defRPr>
            </a:pPr>
            <a:r>
              <a:rPr sz="1350" b="1">
                <a:solidFill>
                  <a:srgbClr val="63708A"/>
                </a:solidFill>
              </a:rPr>
              <a:t>Disponibilidad, CRM, tareas y seguimiento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025778-D896-4118-B4F8-6F07FB9C6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76625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5638E8"/>
                </a:solidFill>
              </a:defRPr>
            </a:pPr>
            <a:r>
              <a:rPr sz="2550" b="1">
                <a:solidFill>
                  <a:srgbClr val="5638E8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58DF42-FFAA-4586-AB69-DB3F4511E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575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5638E8"/>
                </a:solidFill>
              </a:defRPr>
            </a:pPr>
            <a:r>
              <a:rPr sz="1875" b="1">
                <a:solidFill>
                  <a:srgbClr val="5638E8"/>
                </a:solidFill>
              </a:rPr>
              <a:t>Equipo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450A31-4B1B-4820-90AA-1F6708114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3380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3708A"/>
                </a:solidFill>
              </a:defRPr>
            </a:pPr>
            <a:r>
              <a:rPr sz="1350" b="1">
                <a:solidFill>
                  <a:srgbClr val="63708A"/>
                </a:solidFill>
              </a:rPr>
              <a:t>Ve lo que necesita para atender mejor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FF3EA9-A421-4481-B977-5D8BCE26F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08A"/>
                </a:solidFill>
              </a:defRPr>
            </a:pPr>
            <a:r>
              <a:rPr sz="1050" b="0">
                <a:solidFill>
                  <a:srgbClr val="63708A"/>
                </a:solidFill>
              </a:rPr>
              <a:t>Agenda inteligente para equipos que venden y atienden</a:t>
            </a:r>
          </a:p>
        </p:txBody>
      </p:sp>
    </p:spTree>
    <p:extLst>
      <p:ext uri="{BB962C8B-B14F-4D97-AF65-F5344CB8AC3E}">
        <p14:creationId xmlns:p14="http://schemas.microsoft.com/office/powerpoint/2010/main" val="181917639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ADB55A-0E33-44D2-95C7-E583CAD4F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638E8"/>
                </a:solidFill>
              </a:defRPr>
            </a:pPr>
            <a:r>
              <a:rPr sz="1350" b="1">
                <a:solidFill>
                  <a:srgbClr val="5638E8"/>
                </a:solidFill>
              </a:rPr>
              <a:t>NOREN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344292-EF26-4DDC-947E-A4C50B420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000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3708A"/>
                </a:solidFill>
              </a:defRPr>
            </a:pPr>
            <a:r>
              <a:rPr sz="1350" b="1">
                <a:solidFill>
                  <a:srgbClr val="63708A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85EED5-9E2C-42B9-B261-28D11B97F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5213B"/>
                </a:solidFill>
              </a:defRPr>
            </a:pPr>
            <a:r>
              <a:rPr sz="3150" b="1">
                <a:solidFill>
                  <a:srgbClr val="15213B"/>
                </a:solidFill>
              </a:rPr>
              <a:t>Todo lo esencial para vender, atender y coordinar.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593AA0-2127-40B0-92B9-41EF3068C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504825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C9F5E7"/>
          </a:solidFill>
          <a:ln xmlns:a="http://schemas.openxmlformats.org/drawingml/2006/main" w="0">
            <a:solidFill>
              <a:srgbClr val="C9F5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95E071-1098-4788-B526-9F81ABB28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241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B3D"/>
                </a:solidFill>
              </a:defRPr>
            </a:pPr>
            <a:r>
              <a:rPr sz="2250" b="1">
                <a:solidFill>
                  <a:srgbClr val="111B3D"/>
                </a:solidFill>
              </a:rPr>
              <a:t>Agenda inteligente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F4C5CE-7B1A-49B4-A5F5-B5814074C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33750"/>
            <a:ext cx="400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5213B"/>
                </a:solidFill>
              </a:defRPr>
            </a:pPr>
            <a:r>
              <a:rPr sz="1650" b="0">
                <a:solidFill>
                  <a:srgbClr val="15213B"/>
                </a:solidFill>
              </a:rPr>
              <a:t>Disponibilidad por día, reservas claras y una vista semanal para decidir rápido.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DC6095-BA35-420F-9D08-23B20B75E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33625"/>
            <a:ext cx="53721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0">
            <a:solidFill>
              <a:srgbClr val="F4F6F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EDD060-0295-4A30-8E8F-E16AC5DA5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479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213B"/>
                </a:solidFill>
              </a:defRPr>
            </a:pPr>
            <a:r>
              <a:rPr sz="2100" b="1">
                <a:solidFill>
                  <a:srgbClr val="15213B"/>
                </a:solidFill>
              </a:rPr>
              <a:t>CRM operativo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4EA55F-6A2A-4C49-B95D-F0C2A8B6B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861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3708A"/>
                </a:solidFill>
              </a:defRPr>
            </a:pPr>
            <a:r>
              <a:rPr sz="1425" b="0">
                <a:solidFill>
                  <a:srgbClr val="63708A"/>
                </a:solidFill>
              </a:rPr>
              <a:t>Cada cliente con su historial y próximos pasos.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5C004A-3FCA-4054-8C63-BC28D046A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52875"/>
            <a:ext cx="53721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0">
            <a:solidFill>
              <a:srgbClr val="F4F6F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371E0C-4654-44C7-987C-41613C2E5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672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213B"/>
                </a:solidFill>
              </a:defRPr>
            </a:pPr>
            <a:r>
              <a:rPr sz="2100" b="1">
                <a:solidFill>
                  <a:srgbClr val="15213B"/>
                </a:solidFill>
              </a:rPr>
              <a:t>Tareas sin cruces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9C2A93-D363-4E16-AF04-BF02931EA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7053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3708A"/>
                </a:solidFill>
              </a:defRPr>
            </a:pPr>
            <a:r>
              <a:rPr sz="1425" b="0">
                <a:solidFill>
                  <a:srgbClr val="63708A"/>
                </a:solidFill>
              </a:rPr>
              <a:t>Responsabilidad y estado visibles para cada equipo.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29E993-32EE-4FC1-8B67-7C1B60047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08A"/>
                </a:solidFill>
              </a:defRPr>
            </a:pPr>
            <a:r>
              <a:rPr sz="1050" b="0">
                <a:solidFill>
                  <a:srgbClr val="63708A"/>
                </a:solidFill>
              </a:rPr>
              <a:t>Agenda inteligente para equipos que venden y atienden</a:t>
            </a:r>
          </a:p>
        </p:txBody>
      </p:sp>
    </p:spTree>
    <p:extLst>
      <p:ext uri="{BB962C8B-B14F-4D97-AF65-F5344CB8AC3E}">
        <p14:creationId xmlns:p14="http://schemas.microsoft.com/office/powerpoint/2010/main" val="131285659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ED214E-62BE-4802-8297-FD2DB9E57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638E8"/>
                </a:solidFill>
              </a:defRPr>
            </a:pPr>
            <a:r>
              <a:rPr sz="1350" b="1">
                <a:solidFill>
                  <a:srgbClr val="5638E8"/>
                </a:solidFill>
              </a:rPr>
              <a:t>NOREN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2BFFA9-7BEC-416C-BC71-EF6D74618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000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3708A"/>
                </a:solidFill>
              </a:defRPr>
            </a:pPr>
            <a:r>
              <a:rPr sz="1350" b="1">
                <a:solidFill>
                  <a:srgbClr val="63708A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FBC561-1BD9-459F-929A-585FAF25D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5213B"/>
                </a:solidFill>
              </a:defRPr>
            </a:pPr>
            <a:r>
              <a:rPr sz="3150" b="1">
                <a:solidFill>
                  <a:srgbClr val="15213B"/>
                </a:solidFill>
              </a:rPr>
              <a:t>El valor se nota desde la primera semana.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7AE1A7-0680-400D-AAA5-B4297EF69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3708A"/>
                </a:solidFill>
              </a:defRPr>
            </a:pPr>
            <a:r>
              <a:rPr sz="1500" b="0">
                <a:solidFill>
                  <a:srgbClr val="63708A"/>
                </a:solidFill>
              </a:rPr>
              <a:t>Una herramienta útil no exige más trabajo: elimina pasos innecesarios.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D2B9F2-530E-47D5-A894-B36A87A2E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32385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0">
            <a:solidFill>
              <a:srgbClr val="F4F6F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C93BD2-4FB8-4C2A-9AA8-853400E24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480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638E8"/>
                </a:solidFill>
              </a:defRPr>
            </a:pPr>
            <a:r>
              <a:rPr sz="1650" b="1">
                <a:solidFill>
                  <a:srgbClr val="5638E8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5AFD54-F11F-4264-B966-E6625DCDA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004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5213B"/>
                </a:solidFill>
              </a:defRPr>
            </a:pPr>
            <a:r>
              <a:rPr sz="1875" b="1">
                <a:solidFill>
                  <a:srgbClr val="15213B"/>
                </a:solidFill>
              </a:rPr>
              <a:t>Menos coordinación manual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F8BA55-BB55-4D0B-9C4E-36137C14B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14800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08A"/>
                </a:solidFill>
              </a:defRPr>
            </a:pPr>
            <a:r>
              <a:rPr sz="1350" b="0">
                <a:solidFill>
                  <a:srgbClr val="63708A"/>
                </a:solidFill>
              </a:rPr>
              <a:t>La agenda deja de vivir en chats y mensajes.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DC7E0C-B6A0-4BCE-B8D0-3AC6EE2C9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762250"/>
            <a:ext cx="32385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9E3FF"/>
          </a:solidFill>
          <a:ln xmlns:a="http://schemas.openxmlformats.org/drawingml/2006/main" w="0">
            <a:solidFill>
              <a:srgbClr val="E9E3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3FCAEF-6EDD-45A6-9C61-02851AC2E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0480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638E8"/>
                </a:solidFill>
              </a:defRPr>
            </a:pPr>
            <a:r>
              <a:rPr sz="1650" b="1">
                <a:solidFill>
                  <a:srgbClr val="5638E8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345D5D-0541-49EA-9D46-AF78FB982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6004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5213B"/>
                </a:solidFill>
              </a:defRPr>
            </a:pPr>
            <a:r>
              <a:rPr sz="1875" b="1">
                <a:solidFill>
                  <a:srgbClr val="15213B"/>
                </a:solidFill>
              </a:rPr>
              <a:t>Mejor atención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1D4AA0-BCF0-4211-80AA-BE09C358E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114800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08A"/>
                </a:solidFill>
              </a:defRPr>
            </a:pPr>
            <a:r>
              <a:rPr sz="1350" b="0">
                <a:solidFill>
                  <a:srgbClr val="63708A"/>
                </a:solidFill>
              </a:rPr>
              <a:t>El equipo llega con el contexto del cliente.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7FE56C-1762-4A3D-8541-AB1BC7C25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762250"/>
            <a:ext cx="32385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0">
            <a:solidFill>
              <a:srgbClr val="F4F6F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41BAF6-8D32-456B-A84C-1FB5C9261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480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638E8"/>
                </a:solidFill>
              </a:defRPr>
            </a:pPr>
            <a:r>
              <a:rPr sz="1650" b="1">
                <a:solidFill>
                  <a:srgbClr val="5638E8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5AAB04-CFFE-45CC-A79D-0327E8E49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004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5213B"/>
                </a:solidFill>
              </a:defRPr>
            </a:pPr>
            <a:r>
              <a:rPr sz="1875" b="1">
                <a:solidFill>
                  <a:srgbClr val="15213B"/>
                </a:solidFill>
              </a:rPr>
              <a:t>Más control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3EEBF7-5622-439D-99D3-ABFFFF214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14800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08A"/>
                </a:solidFill>
              </a:defRPr>
            </a:pPr>
            <a:r>
              <a:rPr sz="1350" b="0">
                <a:solidFill>
                  <a:srgbClr val="63708A"/>
                </a:solidFill>
              </a:rPr>
              <a:t>Las tareas quedan asignadas y visibles.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4EE38F-6C36-4B7D-97A8-94FCC17AE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08A"/>
                </a:solidFill>
              </a:defRPr>
            </a:pPr>
            <a:r>
              <a:rPr sz="1050" b="0">
                <a:solidFill>
                  <a:srgbClr val="63708A"/>
                </a:solidFill>
              </a:rPr>
              <a:t>Agenda inteligente para equipos que venden y atienden</a:t>
            </a:r>
          </a:p>
        </p:txBody>
      </p:sp>
    </p:spTree>
    <p:extLst>
      <p:ext uri="{BB962C8B-B14F-4D97-AF65-F5344CB8AC3E}">
        <p14:creationId xmlns:p14="http://schemas.microsoft.com/office/powerpoint/2010/main" val="106526905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3A9AB0-AAF8-4995-AF3B-77C1FEDBB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638E8"/>
                </a:solidFill>
              </a:defRPr>
            </a:pPr>
            <a:r>
              <a:rPr sz="1350" b="1">
                <a:solidFill>
                  <a:srgbClr val="5638E8"/>
                </a:solidFill>
              </a:rPr>
              <a:t>NOREN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74F2EE-083B-43E9-8A41-F9E9A4AD3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000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3708A"/>
                </a:solidFill>
              </a:defRPr>
            </a:pPr>
            <a:r>
              <a:rPr sz="1350" b="1">
                <a:solidFill>
                  <a:srgbClr val="63708A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66032D-5431-4CA5-B5DE-6F57CA3DD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5213B"/>
                </a:solidFill>
              </a:defRPr>
            </a:pPr>
            <a:r>
              <a:rPr sz="3150" b="1">
                <a:solidFill>
                  <a:srgbClr val="15213B"/>
                </a:solidFill>
              </a:rPr>
              <a:t>Implementación pensada para avanzar, no para frenar.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7F3C99-27AD-4A8A-8A8F-EAE87FEC7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2250"/>
            <a:ext cx="26670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13FF0B-C216-460D-B58E-BE76BF46B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2250"/>
            <a:ext cx="2667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38E8"/>
          </a:solidFill>
          <a:ln xmlns:a="http://schemas.openxmlformats.org/drawingml/2006/main" w="0">
            <a:solidFill>
              <a:srgbClr val="5638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5A90AF-EF88-4941-87D6-AFE9BA09A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105150"/>
            <a:ext cx="47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5638E8"/>
                </a:solidFill>
              </a:defRPr>
            </a:pPr>
            <a:r>
              <a:rPr sz="2400" b="1">
                <a:solidFill>
                  <a:srgbClr val="5638E8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DD40D0-5906-4E05-93FF-4A90EE1D8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242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5213B"/>
                </a:solidFill>
              </a:defRPr>
            </a:pPr>
            <a:r>
              <a:rPr sz="1950" b="1">
                <a:solidFill>
                  <a:srgbClr val="15213B"/>
                </a:solidFill>
              </a:rPr>
              <a:t>Configurar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413415-8D0B-493F-A7A1-9D14703A2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10050"/>
            <a:ext cx="2047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08A"/>
                </a:solidFill>
              </a:defRPr>
            </a:pPr>
            <a:r>
              <a:rPr sz="1350" b="0">
                <a:solidFill>
                  <a:srgbClr val="63708A"/>
                </a:solidFill>
              </a:rPr>
              <a:t>Servicios, horarios y equipo.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CFBEC2-01D2-41BB-A7FC-87C5AF1EA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571875"/>
            <a:ext cx="619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63708A"/>
                </a:solidFill>
              </a:defRPr>
            </a:pPr>
            <a:r>
              <a:rPr sz="2250" b="1">
                <a:solidFill>
                  <a:srgbClr val="63708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D582CF-3B8A-4019-A327-082DBF31F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762250"/>
            <a:ext cx="26670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AD9209-CFF7-4B4E-B23B-9B074F01D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762250"/>
            <a:ext cx="2667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5E7"/>
          </a:solidFill>
          <a:ln xmlns:a="http://schemas.openxmlformats.org/drawingml/2006/main" w="0">
            <a:solidFill>
              <a:srgbClr val="C9F5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12D93D-9587-4F22-9B3F-FED630894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105150"/>
            <a:ext cx="47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5638E8"/>
                </a:solidFill>
              </a:defRPr>
            </a:pPr>
            <a:r>
              <a:rPr sz="2400" b="1">
                <a:solidFill>
                  <a:srgbClr val="5638E8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0B2FB4-7B50-479B-9B9E-34681F0AA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7242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5213B"/>
                </a:solidFill>
              </a:defRPr>
            </a:pPr>
            <a:r>
              <a:rPr sz="1950" b="1">
                <a:solidFill>
                  <a:srgbClr val="15213B"/>
                </a:solidFill>
              </a:rPr>
              <a:t>Ordenar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206BDF-ECDC-450D-A408-B0A425ED9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210050"/>
            <a:ext cx="2047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08A"/>
                </a:solidFill>
              </a:defRPr>
            </a:pPr>
            <a:r>
              <a:rPr sz="1350" b="0">
                <a:solidFill>
                  <a:srgbClr val="63708A"/>
                </a:solidFill>
              </a:rPr>
              <a:t>Clientes, tareas y reglas operativas.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6482C5-7446-44D7-95A3-8CAEDE2A9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571875"/>
            <a:ext cx="619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63708A"/>
                </a:solidFill>
              </a:defRPr>
            </a:pPr>
            <a:r>
              <a:rPr sz="2250" b="1">
                <a:solidFill>
                  <a:srgbClr val="63708A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C7ADD2-C841-4B8A-A045-26D42B035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762250"/>
            <a:ext cx="26670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764B4A-EFBA-4D54-86DD-267DB2B9C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762250"/>
            <a:ext cx="2667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38E8"/>
          </a:solidFill>
          <a:ln xmlns:a="http://schemas.openxmlformats.org/drawingml/2006/main" w="0">
            <a:solidFill>
              <a:srgbClr val="5638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33ECDB-767D-4744-A79D-E857C7201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05150"/>
            <a:ext cx="47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5638E8"/>
                </a:solidFill>
              </a:defRPr>
            </a:pPr>
            <a:r>
              <a:rPr sz="2400" b="1">
                <a:solidFill>
                  <a:srgbClr val="5638E8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4266D3-5551-4C2F-815E-C98C1D036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7242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5213B"/>
                </a:solidFill>
              </a:defRPr>
            </a:pPr>
            <a:r>
              <a:rPr sz="1950" b="1">
                <a:solidFill>
                  <a:srgbClr val="15213B"/>
                </a:solidFill>
              </a:rPr>
              <a:t>Activar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5AB6C6-0174-4627-A59D-4208C0D36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210050"/>
            <a:ext cx="2047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08A"/>
                </a:solidFill>
              </a:defRPr>
            </a:pPr>
            <a:r>
              <a:rPr sz="1350" b="0">
                <a:solidFill>
                  <a:srgbClr val="63708A"/>
                </a:solidFill>
              </a:rPr>
              <a:t>Reservas y seguimiento en marcha.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2C989E-236A-4ED6-A377-A679F4205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08A"/>
                </a:solidFill>
              </a:defRPr>
            </a:pPr>
            <a:r>
              <a:rPr sz="1050" b="0">
                <a:solidFill>
                  <a:srgbClr val="63708A"/>
                </a:solidFill>
              </a:rPr>
              <a:t>Agenda inteligente para equipos que venden y atienden</a:t>
            </a:r>
          </a:p>
        </p:txBody>
      </p:sp>
    </p:spTree>
    <p:extLst>
      <p:ext uri="{BB962C8B-B14F-4D97-AF65-F5344CB8AC3E}">
        <p14:creationId xmlns:p14="http://schemas.microsoft.com/office/powerpoint/2010/main" val="88485773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7F0A95-289B-44A6-9743-56572019F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638E8"/>
                </a:solidFill>
              </a:defRPr>
            </a:pPr>
            <a:r>
              <a:rPr sz="1350" b="1">
                <a:solidFill>
                  <a:srgbClr val="5638E8"/>
                </a:solidFill>
              </a:rPr>
              <a:t>NOREN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0B4F1A-8C67-42DE-BAB3-6CFA61A22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000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3708A"/>
                </a:solidFill>
              </a:defRPr>
            </a:pPr>
            <a:r>
              <a:rPr sz="1350" b="1">
                <a:solidFill>
                  <a:srgbClr val="63708A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679258-99F6-4758-9413-9FD9C7F12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5213B"/>
                </a:solidFill>
              </a:defRPr>
            </a:pPr>
            <a:r>
              <a:rPr sz="3150" b="1">
                <a:solidFill>
                  <a:srgbClr val="15213B"/>
                </a:solidFill>
              </a:rPr>
              <a:t>Una plataforma completa, resumida en seis frentes.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B5BF70-572F-427D-AC5A-368D9E8A2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3708A"/>
                </a:solidFill>
              </a:defRPr>
            </a:pPr>
            <a:r>
              <a:rPr sz="1500" b="0">
                <a:solidFill>
                  <a:srgbClr val="63708A"/>
                </a:solidFill>
              </a:rPr>
              <a:t>Cada módulo comparte contexto; cada equipo ve solamente la información de su cuenta.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2942E9-D307-4618-8DD6-69B8753B0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2905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213B"/>
                </a:solidFill>
              </a:defRPr>
            </a:pPr>
            <a:r>
              <a:rPr sz="1575" b="1">
                <a:solidFill>
                  <a:srgbClr val="15213B"/>
                </a:solidFill>
              </a:rPr>
              <a:t>Agenda y disponibilidad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B8616D-C283-4122-87FF-A1FC20741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333625"/>
            <a:ext cx="733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08A"/>
                </a:solidFill>
              </a:defRPr>
            </a:pPr>
            <a:r>
              <a:rPr sz="1350" b="0">
                <a:solidFill>
                  <a:srgbClr val="63708A"/>
                </a:solidFill>
              </a:rPr>
              <a:t>Reservas web, cupos, confirmación, reprogramación, cancelación y bloqueos.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8C5FA3-E55B-4F24-BF08-E85723E2C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53B4CC-595E-40CB-9086-A03E0BB4F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86075"/>
            <a:ext cx="2905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213B"/>
                </a:solidFill>
              </a:defRPr>
            </a:pPr>
            <a:r>
              <a:rPr sz="1575" b="1">
                <a:solidFill>
                  <a:srgbClr val="15213B"/>
                </a:solidFill>
              </a:rPr>
              <a:t>Clientes y CRM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AED8D7-9F29-474F-B7A2-36B084F8B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886075"/>
            <a:ext cx="733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08A"/>
                </a:solidFill>
              </a:defRPr>
            </a:pPr>
            <a:r>
              <a:rPr sz="1350" b="0">
                <a:solidFill>
                  <a:srgbClr val="63708A"/>
                </a:solidFill>
              </a:rPr>
              <a:t>Ficha, historial, notas, datos personalizados y seguimiento comercial.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7AA571-E9D8-4753-81C9-F3D5A2543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AF4AD3-EC9C-4EF3-945B-552DD377B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38525"/>
            <a:ext cx="2905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213B"/>
                </a:solidFill>
              </a:defRPr>
            </a:pPr>
            <a:r>
              <a:rPr sz="1575" b="1">
                <a:solidFill>
                  <a:srgbClr val="15213B"/>
                </a:solidFill>
              </a:rPr>
              <a:t>Operación del equipo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58978B-29C0-44CE-BFD9-D491038F3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438525"/>
            <a:ext cx="733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08A"/>
                </a:solidFill>
              </a:defRPr>
            </a:pPr>
            <a:r>
              <a:rPr sz="1350" b="0">
                <a:solidFill>
                  <a:srgbClr val="63708A"/>
                </a:solidFill>
              </a:rPr>
              <a:t>Tareas, responsables, estados, urgencias y tablero de trabajo.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8161C7-1949-49E8-80A2-32CF41ADB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857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D97E69-FFFF-4C97-8161-408624EB3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90975"/>
            <a:ext cx="2905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213B"/>
                </a:solidFill>
              </a:defRPr>
            </a:pPr>
            <a:r>
              <a:rPr sz="1575" b="1">
                <a:solidFill>
                  <a:srgbClr val="15213B"/>
                </a:solidFill>
              </a:rPr>
              <a:t>Administración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C21C4C-FBE9-4404-91C7-182E6D8DA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990975"/>
            <a:ext cx="733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08A"/>
                </a:solidFill>
              </a:defRPr>
            </a:pPr>
            <a:r>
              <a:rPr sz="1350" b="0">
                <a:solidFill>
                  <a:srgbClr val="63708A"/>
                </a:solidFill>
              </a:rPr>
              <a:t>Panel, capacidad, enlaces de agenda, formularios y exportación UTM.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3D031C-873F-4B35-8982-FB388E76D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910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F2B6A9-200B-4576-816A-E701D02AB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43425"/>
            <a:ext cx="2905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213B"/>
                </a:solidFill>
              </a:defRPr>
            </a:pPr>
            <a:r>
              <a:rPr sz="1575" b="1">
                <a:solidFill>
                  <a:srgbClr val="15213B"/>
                </a:solidFill>
              </a:rPr>
              <a:t>Automatización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EB2853-C7E4-415A-A521-A015794FB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543425"/>
            <a:ext cx="733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08A"/>
                </a:solidFill>
              </a:defRPr>
            </a:pPr>
            <a:r>
              <a:rPr sz="1350" b="0">
                <a:solidFill>
                  <a:srgbClr val="63708A"/>
                </a:solidFill>
              </a:rPr>
              <a:t>Confirmaciones, notificaciones programadas y webhook de WhatsApp.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453899-4F8B-4575-A8C2-4AE5E6D82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4347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E7D773-A1D6-4957-A281-D0023C6C9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95875"/>
            <a:ext cx="2905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213B"/>
                </a:solidFill>
              </a:defRPr>
            </a:pPr>
            <a:r>
              <a:rPr sz="1575" b="1">
                <a:solidFill>
                  <a:srgbClr val="15213B"/>
                </a:solidFill>
              </a:rPr>
              <a:t>Crecimiento seguro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FE6F01-2079-45FC-A7BF-E4FD55BF1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095875"/>
            <a:ext cx="733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08A"/>
                </a:solidFill>
              </a:defRPr>
            </a:pPr>
            <a:r>
              <a:rPr sz="1350" b="0">
                <a:solidFill>
                  <a:srgbClr val="63708A"/>
                </a:solidFill>
              </a:rPr>
              <a:t>Multi-tenant, acceso por usuario, suscripciones y pagos.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9571E8-14C7-41D2-BB4E-992BC1324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959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84E265-5A20-433E-9677-DB7F5AF6D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08A"/>
                </a:solidFill>
              </a:defRPr>
            </a:pPr>
            <a:r>
              <a:rPr sz="1050" b="0">
                <a:solidFill>
                  <a:srgbClr val="63708A"/>
                </a:solidFill>
              </a:rPr>
              <a:t>Agenda inteligente para equipos que venden y atienden</a:t>
            </a:r>
          </a:p>
        </p:txBody>
      </p:sp>
    </p:spTree>
    <p:extLst>
      <p:ext uri="{BB962C8B-B14F-4D97-AF65-F5344CB8AC3E}">
        <p14:creationId xmlns:p14="http://schemas.microsoft.com/office/powerpoint/2010/main" val="139785694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90F475-D573-45BC-A480-110EAE980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638E8"/>
                </a:solidFill>
              </a:defRPr>
            </a:pPr>
            <a:r>
              <a:rPr sz="1350" b="1">
                <a:solidFill>
                  <a:srgbClr val="5638E8"/>
                </a:solidFill>
              </a:rPr>
              <a:t>NOREN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B0618D-4098-4C74-9ECF-06E1F02B4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000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3708A"/>
                </a:solidFill>
              </a:defRPr>
            </a:pPr>
            <a:r>
              <a:rPr sz="1350" b="1">
                <a:solidFill>
                  <a:srgbClr val="63708A"/>
                </a:solidFill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AA3C6B-F6F7-47D5-B0BE-F6F4FE40A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5213B"/>
                </a:solidFill>
              </a:defRPr>
            </a:pPr>
            <a:r>
              <a:rPr sz="3150" b="1">
                <a:solidFill>
                  <a:srgbClr val="15213B"/>
                </a:solidFill>
              </a:rPr>
              <a:t>La experiencia se adapta a cada tipo de usuario.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DBA443-0E1A-4D8C-9D9D-E284CF7C1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328612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C9F5E7"/>
          </a:solidFill>
          <a:ln xmlns:a="http://schemas.openxmlformats.org/drawingml/2006/main" w="0">
            <a:solidFill>
              <a:srgbClr val="C9F5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DC5F80-8410-4803-B6D8-306324C31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765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B3D"/>
                </a:solidFill>
              </a:defRPr>
            </a:pPr>
            <a:r>
              <a:rPr sz="2175" b="1">
                <a:solidFill>
                  <a:srgbClr val="111B3D"/>
                </a:solidFill>
              </a:rPr>
              <a:t>Cliente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DF1F9E-F200-4159-BCE2-95782707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48050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213B"/>
                </a:solidFill>
              </a:defRPr>
            </a:pPr>
            <a:r>
              <a:rPr sz="1500" b="0">
                <a:solidFill>
                  <a:srgbClr val="15213B"/>
                </a:solidFill>
              </a:rPr>
              <a:t>Reserva en línea, recibe confirmación y llega con una experiencia ordenada.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CA49D5-0D22-47A1-97C0-7C24C2BB1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76500"/>
            <a:ext cx="328612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9E3FF"/>
          </a:solidFill>
          <a:ln xmlns:a="http://schemas.openxmlformats.org/drawingml/2006/main" w="0">
            <a:solidFill>
              <a:srgbClr val="E9E3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F9041E-E90E-48C5-A1AC-52B08F006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765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B3D"/>
                </a:solidFill>
              </a:defRPr>
            </a:pPr>
            <a:r>
              <a:rPr sz="2175" b="1">
                <a:solidFill>
                  <a:srgbClr val="111B3D"/>
                </a:solidFill>
              </a:rPr>
              <a:t>Equipo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86A5B2-2250-43A6-B5BA-BEF9FD54C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48050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213B"/>
                </a:solidFill>
              </a:defRPr>
            </a:pPr>
            <a:r>
              <a:rPr sz="1500" b="0">
                <a:solidFill>
                  <a:srgbClr val="15213B"/>
                </a:solidFill>
              </a:rPr>
              <a:t>Consulta agenda, clientes y tareas sin depender de mensajes dispersos.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15B929-9A88-42E5-AF07-88A6CFF88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76500"/>
            <a:ext cx="328612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0">
            <a:solidFill>
              <a:srgbClr val="F4F6F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4ACAA6-E963-4180-92C5-47DB52C57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876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B3D"/>
                </a:solidFill>
              </a:defRPr>
            </a:pPr>
            <a:r>
              <a:rPr sz="2175" b="1">
                <a:solidFill>
                  <a:srgbClr val="111B3D"/>
                </a:solidFill>
              </a:rPr>
              <a:t>Administración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0A0C44-63E2-458E-9DC9-CBF7A8CB4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448050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213B"/>
                </a:solidFill>
              </a:defRPr>
            </a:pPr>
            <a:r>
              <a:rPr sz="1500" b="0">
                <a:solidFill>
                  <a:srgbClr val="15213B"/>
                </a:solidFill>
              </a:rPr>
              <a:t>Configura la operación, revisa capacidad y toma decisiones con contexto.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ECE975-11BA-4FA8-8179-5665782ED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08A"/>
                </a:solidFill>
              </a:defRPr>
            </a:pPr>
            <a:r>
              <a:rPr sz="1050" b="0">
                <a:solidFill>
                  <a:srgbClr val="63708A"/>
                </a:solidFill>
              </a:rPr>
              <a:t>Agenda inteligente para equipos que venden y atienden</a:t>
            </a:r>
          </a:p>
        </p:txBody>
      </p:sp>
    </p:spTree>
    <p:extLst>
      <p:ext uri="{BB962C8B-B14F-4D97-AF65-F5344CB8AC3E}">
        <p14:creationId xmlns:p14="http://schemas.microsoft.com/office/powerpoint/2010/main" val="144958525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11B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C96220-7F30-4E98-99C0-EA1CDF246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9F5E7"/>
                </a:solidFill>
              </a:defRPr>
            </a:pPr>
            <a:r>
              <a:rPr sz="1575" b="1">
                <a:solidFill>
                  <a:srgbClr val="C9F5E7"/>
                </a:solidFill>
              </a:rPr>
              <a:t>NOREN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53C8A8-C8A8-4417-B8A0-DFC6E8515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7524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FFFFFF"/>
                </a:solidFill>
              </a:defRPr>
            </a:pPr>
            <a:r>
              <a:rPr sz="3825" b="1">
                <a:solidFill>
                  <a:srgbClr val="FFFFFF"/>
                </a:solidFill>
              </a:rPr>
              <a:t>La próxima buena</a:t>
            </a:r>
          </a:p>
          <a:p xmlns:a="http://schemas.openxmlformats.org/drawingml/2006/main">
            <a:pPr algn="l">
              <a:defRPr sz="3825" b="1">
                <a:solidFill>
                  <a:srgbClr val="FFFFFF"/>
                </a:solidFill>
              </a:defRPr>
            </a:pPr>
            <a:r>
              <a:rPr sz="3825" b="1">
                <a:solidFill>
                  <a:srgbClr val="FFFFFF"/>
                </a:solidFill>
              </a:rPr>
              <a:t>experiencia de tu cliente</a:t>
            </a:r>
          </a:p>
          <a:p xmlns:a="http://schemas.openxmlformats.org/drawingml/2006/main">
            <a:pPr algn="l">
              <a:defRPr sz="3825" b="1">
                <a:solidFill>
                  <a:srgbClr val="FFFFFF"/>
                </a:solidFill>
              </a:defRPr>
            </a:pPr>
            <a:r>
              <a:rPr sz="3825" b="1">
                <a:solidFill>
                  <a:srgbClr val="FFFFFF"/>
                </a:solidFill>
              </a:rPr>
              <a:t>empieza antes de la cita.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038903-EFB0-4916-A7BD-721E04AAA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38625"/>
            <a:ext cx="657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CE3F4"/>
                </a:solidFill>
              </a:defRPr>
            </a:pPr>
            <a:r>
              <a:rPr sz="1725" b="0">
                <a:solidFill>
                  <a:srgbClr val="DCE3F4"/>
                </a:solidFill>
              </a:rPr>
              <a:t>Conversemos sobre tu operación y activemos una demostración.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6945B6-DA5D-4418-B846-0CC3C6813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38750"/>
            <a:ext cx="31432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C9F5E7"/>
          </a:solidFill>
          <a:ln xmlns:a="http://schemas.openxmlformats.org/drawingml/2006/main" w="0">
            <a:solidFill>
              <a:srgbClr val="C9F5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53694B-A440-4244-A61C-F6F24C700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292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B3D"/>
                </a:solidFill>
              </a:defRPr>
            </a:pPr>
            <a:r>
              <a:rPr sz="1575" b="1">
                <a:solidFill>
                  <a:srgbClr val="111B3D"/>
                </a:solidFill>
              </a:rPr>
              <a:t>Solicitar demostración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DEE56A-BBC7-443F-BC2F-BF408070A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57925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9F5E7"/>
                </a:solidFill>
              </a:defRPr>
            </a:pPr>
            <a:r>
              <a:rPr sz="1200" b="0">
                <a:solidFill>
                  <a:srgbClr val="C9F5E7"/>
                </a:solidFill>
              </a:rPr>
              <a:t>Agenda • Clientes • Operación</a:t>
            </a:r>
          </a:p>
        </p:txBody>
      </p:sp>
    </p:spTree>
    <p:extLst>
      <p:ext uri="{BB962C8B-B14F-4D97-AF65-F5344CB8AC3E}">
        <p14:creationId xmlns:p14="http://schemas.microsoft.com/office/powerpoint/2010/main" val="6191808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2026-07-27T18:31:08.2730000Z</dcterms:created>
  <dcterms:modified xsi:type="dcterms:W3CDTF">2026-07-27T18:31:08.2730000Z</dcterms:modified>
</coreProperties>
</file>