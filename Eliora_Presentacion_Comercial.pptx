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ecce530c574179" /><Relationship Type="http://schemas.openxmlformats.org/officeDocument/2006/relationships/extended-properties" Target="/docProps/app.xml" Id="R5d2ddd8f29544ad0" /><Relationship Type="http://schemas.openxmlformats.org/officeDocument/2006/relationships/officeDocument" Target="/ppt/presentation.xml" Id="R96581392811f47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ab5143de004bdd"/>
  </p:sldMasterIdLst>
  <p:notesMasterIdLst>
    <p:notesMasterId xmlns:r="http://schemas.openxmlformats.org/officeDocument/2006/relationships" r:id="R9cbe89f2ffcc4721"/>
  </p:notesMasterIdLst>
  <p:sldIdLst>
    <p:sldId xmlns:r="http://schemas.openxmlformats.org/officeDocument/2006/relationships" id="256" r:id="R95777765be484c74"/>
    <p:sldId xmlns:r="http://schemas.openxmlformats.org/officeDocument/2006/relationships" id="257" r:id="Rec103cb7fc854770"/>
    <p:sldId xmlns:r="http://schemas.openxmlformats.org/officeDocument/2006/relationships" id="258" r:id="Rfb7219f433a44af0"/>
    <p:sldId xmlns:r="http://schemas.openxmlformats.org/officeDocument/2006/relationships" id="259" r:id="R221e95506c454386"/>
    <p:sldId xmlns:r="http://schemas.openxmlformats.org/officeDocument/2006/relationships" id="260" r:id="Rc201735ff630485a"/>
    <p:sldId xmlns:r="http://schemas.openxmlformats.org/officeDocument/2006/relationships" id="261" r:id="Rc9a8feea15094756"/>
    <p:sldId xmlns:r="http://schemas.openxmlformats.org/officeDocument/2006/relationships" id="262" r:id="R8001f64c609f455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c39a586e54a487b" /><Relationship Type="http://schemas.openxmlformats.org/officeDocument/2006/relationships/slideMaster" Target="/ppt/slideMasters/slideMaster1.xml" Id="Radab5143de004bdd" /><Relationship Type="http://schemas.openxmlformats.org/officeDocument/2006/relationships/notesMaster" Target="/ppt/notesMasters/notesMaster1.xml" Id="R9cbe89f2ffcc4721" /><Relationship Type="http://schemas.openxmlformats.org/officeDocument/2006/relationships/presProps" Target="/ppt/presProps.xml" Id="R64ad79af3e9e4ae3" /><Relationship Type="http://schemas.openxmlformats.org/officeDocument/2006/relationships/tableStyles" Target="/ppt/tableStyles.xml" Id="R5323c7001f07441f" /><Relationship Type="http://schemas.openxmlformats.org/officeDocument/2006/relationships/slide" Target="/ppt/slides/slide1.xml" Id="R95777765be484c74" /><Relationship Type="http://schemas.openxmlformats.org/officeDocument/2006/relationships/slide" Target="/ppt/slides/slide2.xml" Id="Rec103cb7fc854770" /><Relationship Type="http://schemas.openxmlformats.org/officeDocument/2006/relationships/slide" Target="/ppt/slides/slide3.xml" Id="Rfb7219f433a44af0" /><Relationship Type="http://schemas.openxmlformats.org/officeDocument/2006/relationships/slide" Target="/ppt/slides/slide4.xml" Id="R221e95506c454386" /><Relationship Type="http://schemas.openxmlformats.org/officeDocument/2006/relationships/slide" Target="/ppt/slides/slide5.xml" Id="Rc201735ff630485a" /><Relationship Type="http://schemas.openxmlformats.org/officeDocument/2006/relationships/slide" Target="/ppt/slides/slide6.xml" Id="Rc9a8feea15094756" /><Relationship Type="http://schemas.openxmlformats.org/officeDocument/2006/relationships/slide" Target="/ppt/slides/slide7.xml" Id="R8001f64c609f45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837c1847a54e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764b5a7a1b4c05" /><Relationship Type="http://schemas.openxmlformats.org/officeDocument/2006/relationships/notesMaster" Target="/ppt/notesMasters/notesMaster1.xml" Id="R1d76d863f7104e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5cc656e80e4c6d" /><Relationship Type="http://schemas.openxmlformats.org/officeDocument/2006/relationships/notesMaster" Target="/ppt/notesMasters/notesMaster1.xml" Id="Re4638e505fcc4f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b4583688bf4b0e" /><Relationship Type="http://schemas.openxmlformats.org/officeDocument/2006/relationships/notesMaster" Target="/ppt/notesMasters/notesMaster1.xml" Id="R41f8a6469745446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e086a831d8b4dfc" /><Relationship Type="http://schemas.openxmlformats.org/officeDocument/2006/relationships/notesMaster" Target="/ppt/notesMasters/notesMaster1.xml" Id="R19c8279b808f49b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cc2c9fd5234ebd" /><Relationship Type="http://schemas.openxmlformats.org/officeDocument/2006/relationships/notesMaster" Target="/ppt/notesMasters/notesMaster1.xml" Id="R19ba70e584dd45f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2a6ea2f13c84cea" /><Relationship Type="http://schemas.openxmlformats.org/officeDocument/2006/relationships/notesMaster" Target="/ppt/notesMasters/notesMaster1.xml" Id="Rf6520d3f512743e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c10c4b91a784459" /><Relationship Type="http://schemas.openxmlformats.org/officeDocument/2006/relationships/notesMaster" Target="/ppt/notesMasters/notesMaster1.xml" Id="Reb09ee177c4340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eaca095c564ad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2949ec0cc24ecf" /><Relationship Type="http://schemas.openxmlformats.org/officeDocument/2006/relationships/slideLayout" Target="/ppt/slideLayouts/slideLayout1.xml" Id="Rc11ddddb85164e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1ddddb85164e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1e5ea7f30b4819" /><Relationship Type="http://schemas.openxmlformats.org/officeDocument/2006/relationships/notesSlide" Target="/ppt/notesSlides/notesSlide1.xml" Id="R0ff07cfd2e1a4e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8e4867d6f844fc" /><Relationship Type="http://schemas.openxmlformats.org/officeDocument/2006/relationships/notesSlide" Target="/ppt/notesSlides/notesSlide2.xml" Id="Rb1942775989b453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2a8daccfd8437b" /><Relationship Type="http://schemas.openxmlformats.org/officeDocument/2006/relationships/notesSlide" Target="/ppt/notesSlides/notesSlide3.xml" Id="R571c1bd6c7ab49e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9fb8d8680d4c26" /><Relationship Type="http://schemas.openxmlformats.org/officeDocument/2006/relationships/notesSlide" Target="/ppt/notesSlides/notesSlide4.xml" Id="Rf5faec8e9fd74a2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2530dd2e7f4f90" /><Relationship Type="http://schemas.openxmlformats.org/officeDocument/2006/relationships/notesSlide" Target="/ppt/notesSlides/notesSlide5.xml" Id="R41274de5171b4df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06b024dd9e4c4f" /><Relationship Type="http://schemas.openxmlformats.org/officeDocument/2006/relationships/notesSlide" Target="/ppt/notesSlides/notesSlide6.xml" Id="R5777154e07724b0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dcae1bf7cc4fa7" /><Relationship Type="http://schemas.openxmlformats.org/officeDocument/2006/relationships/notesSlide" Target="/ppt/notesSlides/notesSlide7.xml" Id="Rd64b86ba815d4e2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B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04D21B-579A-42C9-9B25-2B10A60A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5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5E7"/>
          </a:solidFill>
          <a:ln xmlns:a="http://schemas.openxmlformats.org/drawingml/2006/main" w="0">
            <a:solidFill>
              <a:srgbClr val="C9F5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335DFA-8CC0-41B6-9FD7-32490DB98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9F5E7"/>
                </a:solidFill>
              </a:defRPr>
            </a:pPr>
            <a:r>
              <a:rPr sz="1800" b="1">
                <a:solidFill>
                  <a:srgbClr val="C9F5E7"/>
                </a:solidFill>
              </a:rPr>
              <a:t>ELIORA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E5FEB3-6E13-48B1-8AF5-6A11D9BEF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6572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Cada cita</a:t>
            </a:r>
          </a:p>
          <a:p xmlns:a="http://schemas.openxmlformats.org/drawingml/2006/main">
            <a:pPr algn="l"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se convierte en una</a:t>
            </a:r>
          </a:p>
          <a:p xmlns:a="http://schemas.openxmlformats.org/drawingml/2006/main">
            <a:pPr algn="l"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mejor relación.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8AE379-914A-4CD3-982B-8AC5E8315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24375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CE3F4"/>
                </a:solidFill>
              </a:defRPr>
            </a:pPr>
            <a:r>
              <a:rPr sz="1875" b="0">
                <a:solidFill>
                  <a:srgbClr val="DCE3F4"/>
                </a:solidFill>
              </a:rPr>
              <a:t>Agenda, clientes y operación en un solo lugar.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20C9A7-85E3-4FE1-A278-8256FF6F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817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9F5E7"/>
                </a:solidFill>
              </a:defRPr>
            </a:pPr>
            <a:r>
              <a:rPr sz="1275" b="1">
                <a:solidFill>
                  <a:srgbClr val="C9F5E7"/>
                </a:solidFill>
              </a:rPr>
              <a:t>Presentación comercial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0EB851-643C-46C3-A33B-26C1820BA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162050"/>
            <a:ext cx="2714625" cy="35242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5638E8"/>
          </a:solidFill>
          <a:ln xmlns:a="http://schemas.openxmlformats.org/drawingml/2006/main" w="0">
            <a:solidFill>
              <a:srgbClr val="5638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335D64-0174-4405-ABE2-30A1E7FB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14500"/>
            <a:ext cx="190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C9F5E7"/>
                </a:solidFill>
              </a:defRPr>
            </a:pPr>
            <a:r>
              <a:rPr sz="5250" b="1">
                <a:solidFill>
                  <a:srgbClr val="C9F5E7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EBD775-B95D-4936-B2A6-B754E47E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57500"/>
            <a:ext cx="1952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Orden para</a:t>
            </a:r>
          </a:p>
          <a:p xmlns:a="http://schemas.openxmlformats.org/drawingml/2006/main">
            <a:pPr algn="l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crecer sin</a:t>
            </a:r>
          </a:p>
          <a:p xmlns:a="http://schemas.openxmlformats.org/drawingml/2006/main">
            <a:pPr algn="l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fricción.</a:t>
            </a:r>
          </a:p>
        </p:txBody>
      </p:sp>
    </p:spTree>
    <p:extLst>
      <p:ext uri="{BB962C8B-B14F-4D97-AF65-F5344CB8AC3E}">
        <p14:creationId xmlns:p14="http://schemas.microsoft.com/office/powerpoint/2010/main" val="71996160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0AEECE-A371-481D-9EAD-D2963A014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638E8"/>
                </a:solidFill>
              </a:defRPr>
            </a:pPr>
            <a:r>
              <a:rPr sz="1350" b="1">
                <a:solidFill>
                  <a:srgbClr val="5638E8"/>
                </a:solidFill>
              </a:rPr>
              <a:t>ELIORA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202C65-BA39-49EB-B231-CD0458D72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000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3708A"/>
                </a:solidFill>
              </a:defRPr>
            </a:pPr>
            <a:r>
              <a:rPr sz="1350" b="1">
                <a:solidFill>
                  <a:srgbClr val="63708A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7F8B22-01CD-44C7-9DD5-BFDE90F0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5213B"/>
                </a:solidFill>
              </a:defRPr>
            </a:pPr>
            <a:r>
              <a:rPr sz="3150" b="1">
                <a:solidFill>
                  <a:srgbClr val="15213B"/>
                </a:solidFill>
              </a:rPr>
              <a:t>La operación se rompe entre mensajes, planillas y memoria.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B76366-EAC7-4F9D-A2B9-2084FC1A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08A"/>
                </a:solidFill>
              </a:defRPr>
            </a:pPr>
            <a:r>
              <a:rPr sz="1500" b="0">
                <a:solidFill>
                  <a:srgbClr val="63708A"/>
                </a:solidFill>
              </a:rPr>
              <a:t>Cuando el equipo no ve el mismo contexto, se pierden oportunidades y tiempo.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58AF48-DC81-4B90-970C-E73AD2EA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3238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0">
            <a:solidFill>
              <a:srgbClr val="F4F6F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44FB37-DCCB-4290-8909-E8BC078B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3238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0">
            <a:solidFill>
              <a:srgbClr val="F4F6F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CB7BA1-C7B4-4F62-924F-D191936F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71750"/>
            <a:ext cx="3238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0">
            <a:solidFill>
              <a:srgbClr val="F4F6F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7DCFE4-16A8-4951-B899-63CD6CA1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5213B"/>
                </a:solidFill>
              </a:defRPr>
            </a:pPr>
            <a:r>
              <a:rPr sz="1875" b="1">
                <a:solidFill>
                  <a:srgbClr val="15213B"/>
                </a:solidFill>
              </a:rPr>
              <a:t>Citas dispersas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30FA7E-969D-433F-BE8F-64B06EE00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48050"/>
            <a:ext cx="2619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08A"/>
                </a:solidFill>
              </a:defRPr>
            </a:pPr>
            <a:r>
              <a:rPr sz="1500" b="0">
                <a:solidFill>
                  <a:srgbClr val="63708A"/>
                </a:solidFill>
              </a:rPr>
              <a:t>Cambios de última hora, dobles reservas y poca visibilidad.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BD418D-40D1-4334-8DF4-6930B7BF9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9146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5213B"/>
                </a:solidFill>
              </a:defRPr>
            </a:pPr>
            <a:r>
              <a:rPr sz="1875" b="1">
                <a:solidFill>
                  <a:srgbClr val="15213B"/>
                </a:solidFill>
              </a:rPr>
              <a:t>Clientes sin contexto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73BC98-B50C-4BC7-B6E5-B0C3620A6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448050"/>
            <a:ext cx="2571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08A"/>
                </a:solidFill>
              </a:defRPr>
            </a:pPr>
            <a:r>
              <a:rPr sz="1500" b="0">
                <a:solidFill>
                  <a:srgbClr val="63708A"/>
                </a:solidFill>
              </a:rPr>
              <a:t>La información queda repartida y la atención pierde continuidad.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65ABEB-C4B1-4B24-929D-EFE0DEF2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146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5213B"/>
                </a:solidFill>
              </a:defRPr>
            </a:pPr>
            <a:r>
              <a:rPr sz="1875" b="1">
                <a:solidFill>
                  <a:srgbClr val="15213B"/>
                </a:solidFill>
              </a:rPr>
              <a:t>Seguimiento tardío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4CC327-A0EA-4B2F-9594-AAF0A7BE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448050"/>
            <a:ext cx="2619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08A"/>
                </a:solidFill>
              </a:defRPr>
            </a:pPr>
            <a:r>
              <a:rPr sz="1500" b="0">
                <a:solidFill>
                  <a:srgbClr val="63708A"/>
                </a:solidFill>
              </a:rPr>
              <a:t>Tareas y próximos pasos que llegan tarde o no llegan.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C81BDB-572D-4185-B697-4D0F6C1A3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8A"/>
                </a:solidFill>
              </a:defRPr>
            </a:pPr>
            <a:r>
              <a:rPr sz="1050" b="0">
                <a:solidFill>
                  <a:srgbClr val="63708A"/>
                </a:solidFill>
              </a:rPr>
              <a:t>Agenda inteligente para equipos que venden y atienden</a:t>
            </a:r>
          </a:p>
        </p:txBody>
      </p:sp>
    </p:spTree>
    <p:extLst>
      <p:ext uri="{BB962C8B-B14F-4D97-AF65-F5344CB8AC3E}">
        <p14:creationId xmlns:p14="http://schemas.microsoft.com/office/powerpoint/2010/main" val="36107643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DBB719-FEFD-4704-9681-22BDF781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638E8"/>
                </a:solidFill>
              </a:defRPr>
            </a:pPr>
            <a:r>
              <a:rPr sz="1350" b="1">
                <a:solidFill>
                  <a:srgbClr val="5638E8"/>
                </a:solidFill>
              </a:rPr>
              <a:t>ELIORA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6BCB5C-490F-45BA-A52B-DEFC24B2C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000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3708A"/>
                </a:solidFill>
              </a:defRPr>
            </a:pPr>
            <a:r>
              <a:rPr sz="1350" b="1">
                <a:solidFill>
                  <a:srgbClr val="63708A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601894-D0CE-4248-8DC6-0DAD7816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5213B"/>
                </a:solidFill>
              </a:defRPr>
            </a:pPr>
            <a:r>
              <a:rPr sz="3150" b="1">
                <a:solidFill>
                  <a:srgbClr val="15213B"/>
                </a:solidFill>
              </a:rPr>
              <a:t>Eliora conecta agenda, clientes y trabajo diario.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3D9D21-3670-40D4-9F0E-EBB71E28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08A"/>
                </a:solidFill>
              </a:defRPr>
            </a:pPr>
            <a:r>
              <a:rPr sz="1500" b="0">
                <a:solidFill>
                  <a:srgbClr val="63708A"/>
                </a:solidFill>
              </a:rPr>
              <a:t>Una experiencia simple para el cliente; una operación clara para el equipo.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7B0B4C-BF05-4152-98AA-9E4DB60F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095375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EF0FF"/>
          </a:solidFill>
          <a:ln xmlns:a="http://schemas.openxmlformats.org/drawingml/2006/main" w="0">
            <a:solidFill>
              <a:srgbClr val="EEF0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A25ED4-151F-4842-BB4B-E055C8219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575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638E8"/>
                </a:solidFill>
              </a:defRPr>
            </a:pPr>
            <a:r>
              <a:rPr sz="1875" b="1">
                <a:solidFill>
                  <a:srgbClr val="5638E8"/>
                </a:solidFill>
              </a:rPr>
              <a:t>Cliente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142583-E651-47AB-9258-8B7264C0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3708A"/>
                </a:solidFill>
              </a:defRPr>
            </a:pPr>
            <a:r>
              <a:rPr sz="1350" b="1">
                <a:solidFill>
                  <a:srgbClr val="63708A"/>
                </a:solidFill>
              </a:rPr>
              <a:t>Reserva cuando le acomoda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C85324-3313-495D-A228-8D451B4A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47662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5638E8"/>
                </a:solidFill>
              </a:defRPr>
            </a:pPr>
            <a:r>
              <a:rPr sz="2550" b="1">
                <a:solidFill>
                  <a:srgbClr val="5638E8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E5AE93-4DD3-4CE4-89A9-CD5CE62F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575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B3D"/>
                </a:solidFill>
              </a:defRPr>
            </a:pPr>
            <a:r>
              <a:rPr sz="2100" b="1">
                <a:solidFill>
                  <a:srgbClr val="111B3D"/>
                </a:solidFill>
              </a:rPr>
              <a:t>Eliora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0AA737-473C-4071-8312-BA13A678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3380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3708A"/>
                </a:solidFill>
              </a:defRPr>
            </a:pPr>
            <a:r>
              <a:rPr sz="1350" b="1">
                <a:solidFill>
                  <a:srgbClr val="63708A"/>
                </a:solidFill>
              </a:rPr>
              <a:t>Disponibilidad, CRM, tareas y seguimiento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89852B-AA82-4495-B23F-8BDD043EC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7662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5638E8"/>
                </a:solidFill>
              </a:defRPr>
            </a:pPr>
            <a:r>
              <a:rPr sz="2550" b="1">
                <a:solidFill>
                  <a:srgbClr val="5638E8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05E8D0-E9A3-48DE-BF7A-CD88F34BB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575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638E8"/>
                </a:solidFill>
              </a:defRPr>
            </a:pPr>
            <a:r>
              <a:rPr sz="1875" b="1">
                <a:solidFill>
                  <a:srgbClr val="5638E8"/>
                </a:solidFill>
              </a:rPr>
              <a:t>Equipo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A39833-B322-4752-AA35-3D70795F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3380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3708A"/>
                </a:solidFill>
              </a:defRPr>
            </a:pPr>
            <a:r>
              <a:rPr sz="1350" b="1">
                <a:solidFill>
                  <a:srgbClr val="63708A"/>
                </a:solidFill>
              </a:rPr>
              <a:t>Ve lo que necesita para atender mejor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63CC53-95ED-46C2-A90D-F1871121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8A"/>
                </a:solidFill>
              </a:defRPr>
            </a:pPr>
            <a:r>
              <a:rPr sz="1050" b="0">
                <a:solidFill>
                  <a:srgbClr val="63708A"/>
                </a:solidFill>
              </a:rPr>
              <a:t>Agenda inteligente para equipos que venden y atienden</a:t>
            </a:r>
          </a:p>
        </p:txBody>
      </p:sp>
    </p:spTree>
    <p:extLst>
      <p:ext uri="{BB962C8B-B14F-4D97-AF65-F5344CB8AC3E}">
        <p14:creationId xmlns:p14="http://schemas.microsoft.com/office/powerpoint/2010/main" val="106427699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671378-EDFB-40A5-AFD7-268FCB2B9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638E8"/>
                </a:solidFill>
              </a:defRPr>
            </a:pPr>
            <a:r>
              <a:rPr sz="1350" b="1">
                <a:solidFill>
                  <a:srgbClr val="5638E8"/>
                </a:solidFill>
              </a:rPr>
              <a:t>ELIORA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58812C-3BD7-4FA6-877E-E4A0847F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000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3708A"/>
                </a:solidFill>
              </a:defRPr>
            </a:pPr>
            <a:r>
              <a:rPr sz="1350" b="1">
                <a:solidFill>
                  <a:srgbClr val="63708A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840080-9069-433E-9E8E-9BE7958D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5213B"/>
                </a:solidFill>
              </a:defRPr>
            </a:pPr>
            <a:r>
              <a:rPr sz="3150" b="1">
                <a:solidFill>
                  <a:srgbClr val="15213B"/>
                </a:solidFill>
              </a:rPr>
              <a:t>Todo lo esencial para vender, atender y coordinar.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6E019F-1A37-487D-970E-3A6A8BFC8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50482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C9F5E7"/>
          </a:solidFill>
          <a:ln xmlns:a="http://schemas.openxmlformats.org/drawingml/2006/main" w="0">
            <a:solidFill>
              <a:srgbClr val="C9F5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11A467-C663-4FB8-B96C-28A31581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241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B3D"/>
                </a:solidFill>
              </a:defRPr>
            </a:pPr>
            <a:r>
              <a:rPr sz="2250" b="1">
                <a:solidFill>
                  <a:srgbClr val="111B3D"/>
                </a:solidFill>
              </a:rPr>
              <a:t>Agenda inteligente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ED7F35-6431-4553-A283-07D28380F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33750"/>
            <a:ext cx="400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213B"/>
                </a:solidFill>
              </a:defRPr>
            </a:pPr>
            <a:r>
              <a:rPr sz="1650" b="0">
                <a:solidFill>
                  <a:srgbClr val="15213B"/>
                </a:solidFill>
              </a:rPr>
              <a:t>Disponibilidad por día, reservas claras y una vista semanal para decidir rápido.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F61CB9-BDA6-4EF6-AA06-75380DD4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33625"/>
            <a:ext cx="53721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0">
            <a:solidFill>
              <a:srgbClr val="F4F6F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B1565E-3AD1-4FA0-94B7-E0F50EDF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479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213B"/>
                </a:solidFill>
              </a:defRPr>
            </a:pPr>
            <a:r>
              <a:rPr sz="2100" b="1">
                <a:solidFill>
                  <a:srgbClr val="15213B"/>
                </a:solidFill>
              </a:rPr>
              <a:t>CRM operativo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CA764E-2D44-437B-968F-057CE9730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861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3708A"/>
                </a:solidFill>
              </a:defRPr>
            </a:pPr>
            <a:r>
              <a:rPr sz="1425" b="0">
                <a:solidFill>
                  <a:srgbClr val="63708A"/>
                </a:solidFill>
              </a:rPr>
              <a:t>Cada cliente con su historial y próximos pasos.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056ED8-53B3-42E7-BCC4-4CCDAAF1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52875"/>
            <a:ext cx="53721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0">
            <a:solidFill>
              <a:srgbClr val="F4F6F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1FA139-E7A5-47BF-9F1C-18B43282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672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213B"/>
                </a:solidFill>
              </a:defRPr>
            </a:pPr>
            <a:r>
              <a:rPr sz="2100" b="1">
                <a:solidFill>
                  <a:srgbClr val="15213B"/>
                </a:solidFill>
              </a:rPr>
              <a:t>Tareas sin cruces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BE7F16-2DB5-4ECD-B169-61A51B7F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7053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3708A"/>
                </a:solidFill>
              </a:defRPr>
            </a:pPr>
            <a:r>
              <a:rPr sz="1425" b="0">
                <a:solidFill>
                  <a:srgbClr val="63708A"/>
                </a:solidFill>
              </a:rPr>
              <a:t>Responsabilidad y estado visibles para cada equipo.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A76BFA-A060-48EE-8950-9B7ADFAF0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8A"/>
                </a:solidFill>
              </a:defRPr>
            </a:pPr>
            <a:r>
              <a:rPr sz="1050" b="0">
                <a:solidFill>
                  <a:srgbClr val="63708A"/>
                </a:solidFill>
              </a:rPr>
              <a:t>Agenda inteligente para equipos que venden y atienden</a:t>
            </a:r>
          </a:p>
        </p:txBody>
      </p:sp>
    </p:spTree>
    <p:extLst>
      <p:ext uri="{BB962C8B-B14F-4D97-AF65-F5344CB8AC3E}">
        <p14:creationId xmlns:p14="http://schemas.microsoft.com/office/powerpoint/2010/main" val="126655661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A779AB-F1F9-4396-86CC-7B1583567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638E8"/>
                </a:solidFill>
              </a:defRPr>
            </a:pPr>
            <a:r>
              <a:rPr sz="1350" b="1">
                <a:solidFill>
                  <a:srgbClr val="5638E8"/>
                </a:solidFill>
              </a:rPr>
              <a:t>ELIORA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731E7D-8DF7-443F-A038-862FD85C8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000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3708A"/>
                </a:solidFill>
              </a:defRPr>
            </a:pPr>
            <a:r>
              <a:rPr sz="1350" b="1">
                <a:solidFill>
                  <a:srgbClr val="63708A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0CAC8C-38D7-40C6-A1DE-8EB17D77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5213B"/>
                </a:solidFill>
              </a:defRPr>
            </a:pPr>
            <a:r>
              <a:rPr sz="3150" b="1">
                <a:solidFill>
                  <a:srgbClr val="15213B"/>
                </a:solidFill>
              </a:rPr>
              <a:t>El valor se nota desde la primera semana.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AEE258-DB73-418A-A80B-635100E3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08A"/>
                </a:solidFill>
              </a:defRPr>
            </a:pPr>
            <a:r>
              <a:rPr sz="1500" b="0">
                <a:solidFill>
                  <a:srgbClr val="63708A"/>
                </a:solidFill>
              </a:rPr>
              <a:t>Una herramienta útil no exige más trabajo: elimina pasos innecesarios.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719A36-09D5-4696-80BB-459EF899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3238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0">
            <a:solidFill>
              <a:srgbClr val="F4F6F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178C5B-93B9-45CE-9510-1F2F9FBC3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638E8"/>
                </a:solidFill>
              </a:defRPr>
            </a:pPr>
            <a:r>
              <a:rPr sz="1650" b="1">
                <a:solidFill>
                  <a:srgbClr val="5638E8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C49B75-2D2A-4CB9-BDE0-F97B494B5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004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5213B"/>
                </a:solidFill>
              </a:defRPr>
            </a:pPr>
            <a:r>
              <a:rPr sz="1875" b="1">
                <a:solidFill>
                  <a:srgbClr val="15213B"/>
                </a:solidFill>
              </a:rPr>
              <a:t>Menos coordinación manual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E8EDB9-EEB4-4223-A27F-1D70E003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8A"/>
                </a:solidFill>
              </a:defRPr>
            </a:pPr>
            <a:r>
              <a:rPr sz="1350" b="0">
                <a:solidFill>
                  <a:srgbClr val="63708A"/>
                </a:solidFill>
              </a:rPr>
              <a:t>La agenda deja de vivir en chats y mensajes.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947A08-2AF2-4EEE-A5B4-E72F0D401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762250"/>
            <a:ext cx="3238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9E3FF"/>
          </a:solidFill>
          <a:ln xmlns:a="http://schemas.openxmlformats.org/drawingml/2006/main" w="0">
            <a:solidFill>
              <a:srgbClr val="E9E3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491122-A46C-4962-BACB-7FD57542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0480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638E8"/>
                </a:solidFill>
              </a:defRPr>
            </a:pPr>
            <a:r>
              <a:rPr sz="1650" b="1">
                <a:solidFill>
                  <a:srgbClr val="5638E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26E5E3-BADD-4160-AA27-DEEC4B25D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6004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5213B"/>
                </a:solidFill>
              </a:defRPr>
            </a:pPr>
            <a:r>
              <a:rPr sz="1875" b="1">
                <a:solidFill>
                  <a:srgbClr val="15213B"/>
                </a:solidFill>
              </a:rPr>
              <a:t>Mejor atención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FA71BE-6724-426E-84D4-9288B7E46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11480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8A"/>
                </a:solidFill>
              </a:defRPr>
            </a:pPr>
            <a:r>
              <a:rPr sz="1350" b="0">
                <a:solidFill>
                  <a:srgbClr val="63708A"/>
                </a:solidFill>
              </a:rPr>
              <a:t>El equipo llega con el contexto del cliente.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EE2B94-52E5-46AB-A742-AFC44B15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62250"/>
            <a:ext cx="3238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0">
            <a:solidFill>
              <a:srgbClr val="F4F6F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208F2F-F42B-4B36-B85E-B91928245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480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638E8"/>
                </a:solidFill>
              </a:defRPr>
            </a:pPr>
            <a:r>
              <a:rPr sz="1650" b="1">
                <a:solidFill>
                  <a:srgbClr val="5638E8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2E616B-E8C4-4F50-A709-9AE6C79B6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004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5213B"/>
                </a:solidFill>
              </a:defRPr>
            </a:pPr>
            <a:r>
              <a:rPr sz="1875" b="1">
                <a:solidFill>
                  <a:srgbClr val="15213B"/>
                </a:solidFill>
              </a:rPr>
              <a:t>Más control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0A23FF-ABE4-44B2-9D15-8F652C68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1480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8A"/>
                </a:solidFill>
              </a:defRPr>
            </a:pPr>
            <a:r>
              <a:rPr sz="1350" b="0">
                <a:solidFill>
                  <a:srgbClr val="63708A"/>
                </a:solidFill>
              </a:rPr>
              <a:t>Las tareas quedan asignadas y visibles.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1D8865-D090-4CF6-BAC6-013BEBFA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8A"/>
                </a:solidFill>
              </a:defRPr>
            </a:pPr>
            <a:r>
              <a:rPr sz="1050" b="0">
                <a:solidFill>
                  <a:srgbClr val="63708A"/>
                </a:solidFill>
              </a:rPr>
              <a:t>Agenda inteligente para equipos que venden y atienden</a:t>
            </a:r>
          </a:p>
        </p:txBody>
      </p:sp>
    </p:spTree>
    <p:extLst>
      <p:ext uri="{BB962C8B-B14F-4D97-AF65-F5344CB8AC3E}">
        <p14:creationId xmlns:p14="http://schemas.microsoft.com/office/powerpoint/2010/main" val="134574471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710712-6F99-462B-B4D9-720D8889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638E8"/>
                </a:solidFill>
              </a:defRPr>
            </a:pPr>
            <a:r>
              <a:rPr sz="1350" b="1">
                <a:solidFill>
                  <a:srgbClr val="5638E8"/>
                </a:solidFill>
              </a:rPr>
              <a:t>ELIORA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154292-B538-4E3C-BD7D-55A9F641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000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3708A"/>
                </a:solidFill>
              </a:defRPr>
            </a:pPr>
            <a:r>
              <a:rPr sz="1350" b="1">
                <a:solidFill>
                  <a:srgbClr val="63708A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A2101B-2A70-4796-AA0F-0CC3307D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5213B"/>
                </a:solidFill>
              </a:defRPr>
            </a:pPr>
            <a:r>
              <a:rPr sz="3150" b="1">
                <a:solidFill>
                  <a:srgbClr val="15213B"/>
                </a:solidFill>
              </a:rPr>
              <a:t>Implementación pensada para avanzar, no para frenar.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985121-DA16-4083-BD95-82B7A88A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2667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B8F450-3360-4B86-B4DB-BE3771F7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2667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38E8"/>
          </a:solidFill>
          <a:ln xmlns:a="http://schemas.openxmlformats.org/drawingml/2006/main" w="0">
            <a:solidFill>
              <a:srgbClr val="5638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32BDDF-FBA6-4883-A2E4-AAE6A86A6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0515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5638E8"/>
                </a:solidFill>
              </a:defRPr>
            </a:pPr>
            <a:r>
              <a:rPr sz="2400" b="1">
                <a:solidFill>
                  <a:srgbClr val="5638E8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6612E2-B577-40EA-810F-1CE90F65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242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5213B"/>
                </a:solidFill>
              </a:defRPr>
            </a:pPr>
            <a:r>
              <a:rPr sz="1950" b="1">
                <a:solidFill>
                  <a:srgbClr val="15213B"/>
                </a:solidFill>
              </a:rPr>
              <a:t>Configurar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73C4D6-AB72-4228-A824-88B67AF4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10050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8A"/>
                </a:solidFill>
              </a:defRPr>
            </a:pPr>
            <a:r>
              <a:rPr sz="1350" b="0">
                <a:solidFill>
                  <a:srgbClr val="63708A"/>
                </a:solidFill>
              </a:rPr>
              <a:t>Servicios, horarios y equipo.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5FEF63-A7FC-46B6-8495-9F813E8B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571875"/>
            <a:ext cx="61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63708A"/>
                </a:solidFill>
              </a:defRPr>
            </a:pPr>
            <a:r>
              <a:rPr sz="2250" b="1">
                <a:solidFill>
                  <a:srgbClr val="63708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C6E38B-D202-40C6-A161-9BCB506E1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762250"/>
            <a:ext cx="2667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C893B0-5ABE-46A0-8DA8-246EF72C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762250"/>
            <a:ext cx="2667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5E7"/>
          </a:solidFill>
          <a:ln xmlns:a="http://schemas.openxmlformats.org/drawingml/2006/main" w="0">
            <a:solidFill>
              <a:srgbClr val="C9F5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76A54A-11AB-420A-ABD7-BA509E84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10515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5638E8"/>
                </a:solidFill>
              </a:defRPr>
            </a:pPr>
            <a:r>
              <a:rPr sz="2400" b="1">
                <a:solidFill>
                  <a:srgbClr val="5638E8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769454-AD15-426F-897D-54F59BAE7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7242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5213B"/>
                </a:solidFill>
              </a:defRPr>
            </a:pPr>
            <a:r>
              <a:rPr sz="1950" b="1">
                <a:solidFill>
                  <a:srgbClr val="15213B"/>
                </a:solidFill>
              </a:rPr>
              <a:t>Ordenar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08932E-BD99-4CF6-9961-BC04CD3C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210050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8A"/>
                </a:solidFill>
              </a:defRPr>
            </a:pPr>
            <a:r>
              <a:rPr sz="1350" b="0">
                <a:solidFill>
                  <a:srgbClr val="63708A"/>
                </a:solidFill>
              </a:rPr>
              <a:t>Clientes, tareas y reglas operativas.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8D8DF2-9E55-40CF-A788-391F9228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571875"/>
            <a:ext cx="61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63708A"/>
                </a:solidFill>
              </a:defRPr>
            </a:pPr>
            <a:r>
              <a:rPr sz="2250" b="1">
                <a:solidFill>
                  <a:srgbClr val="63708A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43CB41-FFE5-4617-AA3F-4EA6ACEB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62250"/>
            <a:ext cx="2667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70BB1B-7C8D-4A7D-B228-F8640B1E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62250"/>
            <a:ext cx="2667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38E8"/>
          </a:solidFill>
          <a:ln xmlns:a="http://schemas.openxmlformats.org/drawingml/2006/main" w="0">
            <a:solidFill>
              <a:srgbClr val="5638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07A264-1833-4867-B1B1-2CF7721FD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0515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5638E8"/>
                </a:solidFill>
              </a:defRPr>
            </a:pPr>
            <a:r>
              <a:rPr sz="2400" b="1">
                <a:solidFill>
                  <a:srgbClr val="5638E8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2B5820-BDCD-4C98-8917-890F43DF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242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5213B"/>
                </a:solidFill>
              </a:defRPr>
            </a:pPr>
            <a:r>
              <a:rPr sz="1950" b="1">
                <a:solidFill>
                  <a:srgbClr val="15213B"/>
                </a:solidFill>
              </a:rPr>
              <a:t>Activar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CC725D-1B1A-4E17-93F0-7CF1832B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10050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8A"/>
                </a:solidFill>
              </a:defRPr>
            </a:pPr>
            <a:r>
              <a:rPr sz="1350" b="0">
                <a:solidFill>
                  <a:srgbClr val="63708A"/>
                </a:solidFill>
              </a:rPr>
              <a:t>Reservas y seguimiento en marcha.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9C6735-FF5B-4D68-AEE2-4B9CFDEC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8A"/>
                </a:solidFill>
              </a:defRPr>
            </a:pPr>
            <a:r>
              <a:rPr sz="1050" b="0">
                <a:solidFill>
                  <a:srgbClr val="63708A"/>
                </a:solidFill>
              </a:rPr>
              <a:t>Agenda inteligente para equipos que venden y atienden</a:t>
            </a:r>
          </a:p>
        </p:txBody>
      </p:sp>
    </p:spTree>
    <p:extLst>
      <p:ext uri="{BB962C8B-B14F-4D97-AF65-F5344CB8AC3E}">
        <p14:creationId xmlns:p14="http://schemas.microsoft.com/office/powerpoint/2010/main" val="16895370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11B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C0B5E6-E8BA-45E0-AA45-E02377BA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9F5E7"/>
                </a:solidFill>
              </a:defRPr>
            </a:pPr>
            <a:r>
              <a:rPr sz="1575" b="1">
                <a:solidFill>
                  <a:srgbClr val="C9F5E7"/>
                </a:solidFill>
              </a:rPr>
              <a:t>ELIORA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FA7018-BCA7-4E97-82A7-7392A6A2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7524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FFFFFF"/>
                </a:solidFill>
              </a:defRPr>
            </a:pPr>
            <a:r>
              <a:rPr sz="3825" b="1">
                <a:solidFill>
                  <a:srgbClr val="FFFFFF"/>
                </a:solidFill>
              </a:rPr>
              <a:t>La próxima buena</a:t>
            </a:r>
          </a:p>
          <a:p xmlns:a="http://schemas.openxmlformats.org/drawingml/2006/main">
            <a:pPr algn="l">
              <a:defRPr sz="3825" b="1">
                <a:solidFill>
                  <a:srgbClr val="FFFFFF"/>
                </a:solidFill>
              </a:defRPr>
            </a:pPr>
            <a:r>
              <a:rPr sz="3825" b="1">
                <a:solidFill>
                  <a:srgbClr val="FFFFFF"/>
                </a:solidFill>
              </a:rPr>
              <a:t>experiencia de tu cliente</a:t>
            </a:r>
          </a:p>
          <a:p xmlns:a="http://schemas.openxmlformats.org/drawingml/2006/main">
            <a:pPr algn="l">
              <a:defRPr sz="3825" b="1">
                <a:solidFill>
                  <a:srgbClr val="FFFFFF"/>
                </a:solidFill>
              </a:defRPr>
            </a:pPr>
            <a:r>
              <a:rPr sz="3825" b="1">
                <a:solidFill>
                  <a:srgbClr val="FFFFFF"/>
                </a:solidFill>
              </a:rPr>
              <a:t>empieza antes de la cita.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8D6537-7A13-4741-929A-408D4E8AF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38625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CE3F4"/>
                </a:solidFill>
              </a:defRPr>
            </a:pPr>
            <a:r>
              <a:rPr sz="1725" b="0">
                <a:solidFill>
                  <a:srgbClr val="DCE3F4"/>
                </a:solidFill>
              </a:rPr>
              <a:t>Conversemos sobre tu operación y activemos una demostración.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7BADFF-F2E3-4945-9F99-2A7A946E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0"/>
            <a:ext cx="31432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C9F5E7"/>
          </a:solidFill>
          <a:ln xmlns:a="http://schemas.openxmlformats.org/drawingml/2006/main" w="0">
            <a:solidFill>
              <a:srgbClr val="C9F5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CA3363-FA75-426F-ACEE-9F251F2B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292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B3D"/>
                </a:solidFill>
              </a:defRPr>
            </a:pPr>
            <a:r>
              <a:rPr sz="1575" b="1">
                <a:solidFill>
                  <a:srgbClr val="111B3D"/>
                </a:solidFill>
              </a:rPr>
              <a:t>Solicitar demostración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38FD7A-4E44-4F78-B0C9-07A8709AB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57925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9F5E7"/>
                </a:solidFill>
              </a:defRPr>
            </a:pPr>
            <a:r>
              <a:rPr sz="1200" b="0">
                <a:solidFill>
                  <a:srgbClr val="C9F5E7"/>
                </a:solidFill>
              </a:rPr>
              <a:t>Agenda • Clientes • Operación</a:t>
            </a:r>
          </a:p>
        </p:txBody>
      </p:sp>
    </p:spTree>
    <p:extLst>
      <p:ext uri="{BB962C8B-B14F-4D97-AF65-F5344CB8AC3E}">
        <p14:creationId xmlns:p14="http://schemas.microsoft.com/office/powerpoint/2010/main" val="1140583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2026-07-27T18:24:43.0660000Z</dcterms:created>
  <dcterms:modified xsi:type="dcterms:W3CDTF">2026-07-27T18:24:43.0660000Z</dcterms:modified>
</coreProperties>
</file>